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Opening frame: this deck presents an agentic-AI collections system for Geldium. Every claim is grounded in the executed Task 1 EDA (500 customers, 16.0% delinquent) and the executed Task 2 baseline check - we deliberately pilot before we model.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Walk left to right. Emphasise the data-quality gate: Task 1 found 6 label variants in Employment_Status (245 rows fixed), 7.8% missing Income (median imputed + flagged) and 81 tenure-age inconsistencies - the system consumes only cleaned, documented data. Decision logic is rules-first because the executed baseline showed models at the no-skill floor (PR-AUC 0.15-0.17 vs 0.16 base rate).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Agentic AI here means the system can plan and execute routine steps end-to-end (scoring, messaging, routing, monitoring) without ticket queues. The boundary is deliberate: unemployed customers show the highest observed delinquency (19.4%), so vulnerable or adverse-touching decisions always route to a human officer.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Two concrete fairness risks drive these guardrails: (1) proxy discrimination via Location / Employment_Status, (2) vulnerable-group impact on unemployed customers (19.4% delinquent). Compliance angle: adverse-action transparency and data minimisation for income/debt fields; 7.8% missing Income is disclosed as a banding limitation.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Quantitative targets are pilot commitments, not modelled projections: 15% relative delinquency reduction in the DTI &gt; 40% cohort (18.9% observed vs 9.8% in the lowest band). Qualitative gains - fairness, transparency, scalability - are audited with the same rigor as the KPIs.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keeps us honest: the same EDA that found the DTI gradient found that no predictor beats chance today. Pilot-first is how we capture upside without acting on noise - and every number here is reproducible from the project repository.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092440" y="274320"/>
            <a:ext cx="8229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tat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47472"/>
            <a:ext cx="548640" cy="50337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682496" y="4069080"/>
            <a:ext cx="5779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FD8DC"/>
                </a:solidFill>
                <a:latin typeface="Arial"/>
              </a:rPr>
              <a:t>Tata iQ Forage Simulation  |  Predictive Analytics Team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</a:p>
        </p:txBody>
      </p:sp>
      <p:sp>
        <p:nvSpPr>
          <p:cNvPr id="71" name="Chevron 70"/>
          <p:cNvSpPr/>
          <p:nvPr/>
        </p:nvSpPr>
        <p:spPr>
          <a:xfrm>
            <a:off x="274320" y="1097280"/>
            <a:ext cx="2103120" cy="502920"/>
          </a:xfrm>
          <a:prstGeom prst="chevron">
            <a:avLst/>
          </a:prstGeom>
          <a:solidFill>
            <a:srgbClr val="0277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FFFFFF"/>
                </a:solidFill>
                <a:latin typeface="Arial"/>
              </a:rPr>
              <a:t>1 · INPUTS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74320" y="1691640"/>
            <a:ext cx="210312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54864"/>
          <a:lstStyle/>
          <a:p>
            <a:pPr algn="ctr">
              <a:spcAft>
                <a:spcPts val="600"/>
              </a:spcAft>
            </a:pPr>
            <a:r>
              <a:rPr sz="850">
                <a:solidFill>
                  <a:srgbClr val="004065"/>
                </a:solidFill>
                <a:latin typeface="Arial"/>
              </a:rPr>
              <a:t>- Customer data: Income, Credit_Score, Credit_Utilization, Debt-to-Income, Loan_Balance, Missed_Payments (12 mo), 6-month payment history, Employment_Status, Tenure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004065"/>
                </a:solidFill>
                <a:latin typeface="Arial"/>
              </a:rPr>
              <a:t>- Data-quality gate first: label clean-up, median imputation + missingness flags (Task 1 cleaning log)</a:t>
            </a:r>
          </a:p>
        </p:txBody>
      </p:sp>
      <p:sp>
        <p:nvSpPr>
          <p:cNvPr id="73" name="Chevron 72"/>
          <p:cNvSpPr/>
          <p:nvPr/>
        </p:nvSpPr>
        <p:spPr>
          <a:xfrm>
            <a:off x="2423159" y="1097280"/>
            <a:ext cx="2103120" cy="502920"/>
          </a:xfrm>
          <a:prstGeom prst="chevron">
            <a:avLst/>
          </a:prstGeom>
          <a:solidFill>
            <a:srgbClr val="00968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FFFFFF"/>
                </a:solidFill>
                <a:latin typeface="Arial"/>
              </a:rPr>
              <a:t>2 · DECISION LOGIC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423159" y="1691640"/>
            <a:ext cx="210312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54864"/>
          <a:lstStyle/>
          <a:p>
            <a:pPr algn="ctr">
              <a:spcAft>
                <a:spcPts val="600"/>
              </a:spcAft>
            </a:pPr>
            <a:r>
              <a:rPr sz="850">
                <a:solidFill>
                  <a:srgbClr val="004065"/>
                </a:solidFill>
                <a:latin typeface="Arial"/>
              </a:rPr>
              <a:t>- Rules first: transparent DTI-band risk tiers (low / medium / high)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004065"/>
                </a:solidFill>
                <a:latin typeface="Arial"/>
              </a:rPr>
              <a:t>- Predictive model only after the go/no-go gate (cross-validated PR-AUC must beat the 0.16 no-skill floor)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004065"/>
                </a:solidFill>
                <a:latin typeface="Arial"/>
              </a:rPr>
              <a:t>- Calibrated probability -&gt; risk score + reason codes</a:t>
            </a:r>
          </a:p>
        </p:txBody>
      </p:sp>
      <p:sp>
        <p:nvSpPr>
          <p:cNvPr id="75" name="Chevron 74"/>
          <p:cNvSpPr/>
          <p:nvPr/>
        </p:nvSpPr>
        <p:spPr>
          <a:xfrm>
            <a:off x="4571999" y="1097280"/>
            <a:ext cx="2103120" cy="502920"/>
          </a:xfrm>
          <a:prstGeom prst="chevron">
            <a:avLst/>
          </a:prstGeom>
          <a:solidFill>
            <a:srgbClr val="039BE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FFFFFF"/>
                </a:solidFill>
                <a:latin typeface="Arial"/>
              </a:rPr>
              <a:t>3 · ACTIONS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1999" y="1691640"/>
            <a:ext cx="210312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39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54864"/>
          <a:lstStyle/>
          <a:p>
            <a:pPr algn="ctr">
              <a:spcAft>
                <a:spcPts val="600"/>
              </a:spcAft>
            </a:pPr>
            <a:r>
              <a:rPr sz="850">
                <a:solidFill>
                  <a:srgbClr val="004065"/>
                </a:solidFill>
                <a:latin typeface="Arial"/>
              </a:rPr>
              <a:t>- Low risk: automated reminder e-mails / SMS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004065"/>
                </a:solidFill>
                <a:latin typeface="Arial"/>
              </a:rPr>
              <a:t>- Medium risk: proactive hardship or limit-review offer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004065"/>
                </a:solidFill>
                <a:latin typeface="Arial"/>
              </a:rPr>
              <a:t>- High risk or vulnerable: human collections review</a:t>
            </a:r>
          </a:p>
        </p:txBody>
      </p:sp>
      <p:sp>
        <p:nvSpPr>
          <p:cNvPr id="77" name="Chevron 76"/>
          <p:cNvSpPr/>
          <p:nvPr/>
        </p:nvSpPr>
        <p:spPr>
          <a:xfrm>
            <a:off x="6720839" y="1097280"/>
            <a:ext cx="2103120" cy="502920"/>
          </a:xfrm>
          <a:prstGeom prst="chevron">
            <a:avLst/>
          </a:prstGeom>
          <a:solidFill>
            <a:srgbClr val="558B2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FFFFFF"/>
                </a:solidFill>
                <a:latin typeface="Arial"/>
              </a:rPr>
              <a:t>4 · LEARNING LOOP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720839" y="1691640"/>
            <a:ext cx="210312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58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54864"/>
          <a:lstStyle/>
          <a:p>
            <a:pPr algn="ctr">
              <a:spcAft>
                <a:spcPts val="600"/>
              </a:spcAft>
            </a:pPr>
            <a:r>
              <a:rPr sz="850">
                <a:solidFill>
                  <a:srgbClr val="004065"/>
                </a:solidFill>
                <a:latin typeface="Arial"/>
              </a:rPr>
              <a:t>- Outcomes tracked: cure rate, roll-rate, complaints, cost per account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004065"/>
                </a:solidFill>
                <a:latin typeface="Arial"/>
              </a:rPr>
              <a:t>- Monthly fairness + drift (PSI) audits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004065"/>
                </a:solidFill>
                <a:latin typeface="Arial"/>
              </a:rPr>
              <a:t>- Rules and models refreshed; kill-switch to manual review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" y="4206240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CFD8DC"/>
                </a:solidFill>
                <a:latin typeface="Arial"/>
              </a:rPr>
              <a:t>Baseline: 500 customers, 16.0% delinquent - every pipeline step is documented in the Task 1 cleaning log and Task 2 model card.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384048" y="1234440"/>
          <a:ext cx="83667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8808"/>
                <a:gridCol w="4187952"/>
              </a:tblGrid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AUTONOMOUS  (AI acts, no approval needed)</a:t>
                      </a:r>
                    </a:p>
                  </a:txBody>
                  <a:tcPr marL="54864" marR="54864" marT="27432" marB="27432" anchor="ctr">
                    <a:solidFill>
                      <a:srgbClr val="0277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HUMAN OVERSIGHT  (approval required)</a:t>
                      </a:r>
                    </a:p>
                  </a:txBody>
                  <a:tcPr marL="54864" marR="54864" marT="27432" marB="27432" anchor="ctr">
                    <a:solidFill>
                      <a:srgbClr val="0096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Nightly segmentation and risk scoring (rules + validated model)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Model go/no-go approval and threshold setting (Task 2 gate)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Reminder e-mails / SMS to low-risk accounts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Hardship and restructuring offers (affordability judgement)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Case routing and priority queues for collectors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Any adverse action: limit cuts, escalation, legal action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Drift / anomaly detection and automatic alerting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Fairness and bias review before any scale-up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Outcome dashboards and standard reporting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Vulnerable-customer exceptions and complaint handling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</a:tr>
            </a:tbl>
          </a:graphicData>
        </a:graphic>
      </p:graphicFrame>
      <p:sp>
        <p:nvSpPr>
          <p:cNvPr id="84" name="TextBox 83"/>
          <p:cNvSpPr txBox="1"/>
          <p:nvPr/>
        </p:nvSpPr>
        <p:spPr>
          <a:xfrm>
            <a:off x="384048" y="4343400"/>
            <a:ext cx="8366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CFD8DC"/>
                </a:solidFill>
                <a:latin typeface="Arial"/>
              </a:rPr>
              <a:t>Principle: AI acts autonomously only where actions are reversible, low-impact and fully explainable; everything affecting a customer's credit terms stays human.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</a:p>
        </p:txBody>
      </p:sp>
      <p:sp>
        <p:nvSpPr>
          <p:cNvPr id="90" name="TextBox 89"/>
          <p:cNvSpPr txBox="1"/>
          <p:nvPr/>
        </p:nvSpPr>
        <p:spPr>
          <a:xfrm>
            <a:off x="384048" y="1188720"/>
            <a:ext cx="83667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b="1" sz="1250">
                <a:solidFill>
                  <a:srgbClr val="FFEB38"/>
                </a:solidFill>
                <a:latin typeface="Arial"/>
              </a:rPr>
              <a:t>Fairness by design - </a:t>
            </a:r>
            <a:r>
              <a:rPr sz="1250">
                <a:solidFill>
                  <a:srgbClr val="FFFFFF"/>
                </a:solidFill>
                <a:latin typeface="Arial"/>
              </a:rPr>
              <a:t>subgroup audits (Age band, Employment_Status, Location) for equal-opportunity and calibration parity; Location excluded from scoring because it proxies ethnicity and socio-economic status.</a:t>
            </a:r>
          </a:p>
          <a:p>
            <a:pPr algn="l">
              <a:spcAft>
                <a:spcPts val="1400"/>
              </a:spcAft>
            </a:pPr>
            <a:r>
              <a:rPr b="1" sz="1250">
                <a:solidFill>
                  <a:srgbClr val="FFEB38"/>
                </a:solidFill>
                <a:latin typeface="Arial"/>
              </a:rPr>
              <a:t>Explainability - </a:t>
            </a:r>
            <a:r>
              <a:rPr sz="1250">
                <a:solidFill>
                  <a:srgbClr val="FFFFFF"/>
                </a:solidFill>
                <a:latin typeface="Arial"/>
              </a:rPr>
              <a:t>transparent DTI-band rules today; per-decision reason codes for any future model; predictions communicated as probabilities with uncertainty (executed baseline: no better than chance).</a:t>
            </a:r>
          </a:p>
          <a:p>
            <a:pPr algn="l">
              <a:spcAft>
                <a:spcPts val="1400"/>
              </a:spcAft>
            </a:pPr>
            <a:r>
              <a:rPr b="1" sz="1250">
                <a:solidFill>
                  <a:srgbClr val="FFEB38"/>
                </a:solidFill>
                <a:latin typeface="Arial"/>
              </a:rPr>
              <a:t>Human-in-the-loop and compliance - </a:t>
            </a:r>
            <a:r>
              <a:rPr sz="1250">
                <a:solidFill>
                  <a:srgbClr val="FFFFFF"/>
                </a:solidFill>
                <a:latin typeface="Arial"/>
              </a:rPr>
              <a:t>no fully automated adverse decisions; adverse-action reason notices; income and debt data minimised to need-to-know; documented model card and full audit trail.</a:t>
            </a:r>
          </a:p>
          <a:p>
            <a:pPr algn="l">
              <a:spcAft>
                <a:spcPts val="1400"/>
              </a:spcAft>
            </a:pPr>
            <a:r>
              <a:rPr b="1" sz="1250">
                <a:solidFill>
                  <a:srgbClr val="FFEB38"/>
                </a:solidFill>
                <a:latin typeface="Arial"/>
              </a:rPr>
              <a:t>Continuous monitoring - </a:t>
            </a:r>
            <a:r>
              <a:rPr sz="1250">
                <a:solidFill>
                  <a:srgbClr val="FFFFFF"/>
                </a:solidFill>
                <a:latin typeface="Arial"/>
              </a:rPr>
              <a:t>monthly drift (PSI), calibration and complaint-rate reviews; kill-switch back to manual review; fairness re-audit before any scale-up.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4048" y="4343400"/>
            <a:ext cx="8366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CFD8DC"/>
                </a:solidFill>
                <a:latin typeface="Arial"/>
              </a:rPr>
              <a:t>Guardrails are build requirements, not afterthoughts - each maps to a Task 2 evaluation metric and a named owner.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</a:p>
        </p:txBody>
      </p:sp>
      <p:graphicFrame>
        <p:nvGraphicFramePr>
          <p:cNvPr id="96" name="Table 95"/>
          <p:cNvGraphicFramePr>
            <a:graphicFrameLocks noGrp="1"/>
          </p:cNvGraphicFramePr>
          <p:nvPr/>
        </p:nvGraphicFramePr>
        <p:xfrm>
          <a:off x="384048" y="1188720"/>
          <a:ext cx="83667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8808"/>
                <a:gridCol w="4187952"/>
              </a:tblGrid>
              <a:tr h="5105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BUSINESS KPIs</a:t>
                      </a:r>
                    </a:p>
                  </a:txBody>
                  <a:tcPr marL="54864" marR="54864" marT="27432" marB="27432" anchor="ctr">
                    <a:solidFill>
                      <a:srgbClr val="558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CUSTOMER OUTCOMES</a:t>
                      </a:r>
                    </a:p>
                  </a:txBody>
                  <a:tcPr marL="54864" marR="54864" marT="27432" marB="27432" anchor="ctr">
                    <a:solidFill>
                      <a:srgbClr val="0277BD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15%+ relative delinquency reduction in the pilot cohort (DTI &gt; 40%, 74 accounts) by day 90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Supportive offers before punitive action; hardship routing for vulnerable customers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Lower cost per account: automated reminders replace manual dialling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Fewer intrusive contacts for low-risk customers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Higher cure rate and lower 90+ DPD roll-rate in the targeted band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Transparent reason codes (e.g., 'your debts are close to your income')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Collections capacity freed for complex, high-value cases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Fair outcomes audited by age, employment group and region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Near-zero marginal cost as the portfolio scales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4065"/>
                          </a:solidFill>
                          <a:latin typeface="Arial"/>
                        </a:rPr>
                        <a:t>Consistent, documented process customers can question and challenge</a:t>
                      </a:r>
                    </a:p>
                  </a:txBody>
                  <a:tcPr marL="54864" marR="54864" marT="27432" marB="27432" anchor="ctr">
                    <a:solidFill>
                      <a:srgbClr val="CFD8DC"/>
                    </a:solidFill>
                  </a:tcPr>
                </a:tc>
              </a:tr>
            </a:tbl>
          </a:graphicData>
        </a:graphic>
      </p:graphicFrame>
      <p:sp>
        <p:nvSpPr>
          <p:cNvPr id="97" name="TextBox 96"/>
          <p:cNvSpPr txBox="1"/>
          <p:nvPr/>
        </p:nvSpPr>
        <p:spPr>
          <a:xfrm>
            <a:off x="384048" y="4343400"/>
            <a:ext cx="8366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CFD8DC"/>
                </a:solidFill>
                <a:latin typeface="Arial"/>
              </a:rPr>
              <a:t>Impact targets come from the Task 3 SMART pilot - measured against a matched control, with a scale-or-stop decision at day 91.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 Base: Why Pilot-First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384048" y="1188720"/>
            <a:ext cx="4617720" cy="3017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delinq_by_d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4389120" cy="27426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12080" y="1188720"/>
            <a:ext cx="35661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b="1" sz="1050">
                <a:solidFill>
                  <a:srgbClr val="FFEB38"/>
                </a:solidFill>
                <a:latin typeface="Arial"/>
              </a:rPr>
              <a:t>Base rate: </a:t>
            </a:r>
            <a:r>
              <a:rPr sz="1050">
                <a:solidFill>
                  <a:srgbClr val="FFFFFF"/>
                </a:solidFill>
                <a:latin typeface="Arial"/>
              </a:rPr>
              <a:t>16.0% delinquent (80 of 500 customers)</a:t>
            </a:r>
          </a:p>
          <a:p>
            <a:pPr algn="l">
              <a:spcAft>
                <a:spcPts val="800"/>
              </a:spcAft>
            </a:pPr>
            <a:r>
              <a:rPr b="1" sz="1050">
                <a:solidFill>
                  <a:srgbClr val="FFEB38"/>
                </a:solidFill>
                <a:latin typeface="Arial"/>
              </a:rPr>
              <a:t>Strongest observed gradient: </a:t>
            </a:r>
            <a:r>
              <a:rPr sz="1050">
                <a:solidFill>
                  <a:srgbClr val="FFFFFF"/>
                </a:solidFill>
                <a:latin typeface="Arial"/>
              </a:rPr>
              <a:t>DTI &gt; 40% delinquent at 18.9% vs 9.8% below 20% (~2x)</a:t>
            </a:r>
          </a:p>
          <a:p>
            <a:pPr algn="l">
              <a:spcAft>
                <a:spcPts val="800"/>
              </a:spcAft>
            </a:pPr>
            <a:r>
              <a:rPr b="1" sz="1050">
                <a:solidFill>
                  <a:srgbClr val="FFEB38"/>
                </a:solidFill>
                <a:latin typeface="Arial"/>
              </a:rPr>
              <a:t>Executed baseline: </a:t>
            </a:r>
            <a:r>
              <a:rPr sz="1050">
                <a:solidFill>
                  <a:srgbClr val="FFFFFF"/>
                </a:solidFill>
                <a:latin typeface="Arial"/>
              </a:rPr>
              <a:t>logistic regression, boosting and dummy all at PR-AUC 0.15-0.17, i.e. the 0.16 no-skill floor</a:t>
            </a:r>
          </a:p>
          <a:p>
            <a:pPr algn="l">
              <a:spcAft>
                <a:spcPts val="800"/>
              </a:spcAft>
            </a:pPr>
            <a:r>
              <a:rPr b="1" sz="1050">
                <a:solidFill>
                  <a:srgbClr val="FFEB38"/>
                </a:solidFill>
                <a:latin typeface="Arial"/>
              </a:rPr>
              <a:t>Implication: </a:t>
            </a:r>
            <a:r>
              <a:rPr sz="1050">
                <a:solidFill>
                  <a:srgbClr val="FFFFFF"/>
                </a:solidFill>
                <a:latin typeface="Arial"/>
              </a:rPr>
              <a:t>no model deployment yet - validate the DTI gradient with a controlled 90-day pilot, then scale what works</a:t>
            </a:r>
          </a:p>
          <a:p>
            <a:pPr algn="l">
              <a:spcAft>
                <a:spcPts val="800"/>
              </a:spcAft>
            </a:pPr>
            <a:r>
              <a:rPr b="1" sz="1050">
                <a:solidFill>
                  <a:srgbClr val="FFEB38"/>
                </a:solidFill>
                <a:latin typeface="Arial"/>
              </a:rPr>
              <a:t>Definitions: </a:t>
            </a:r>
            <a:r>
              <a:rPr sz="1050">
                <a:solidFill>
                  <a:srgbClr val="FFFFFF"/>
                </a:solidFill>
                <a:latin typeface="Arial"/>
              </a:rPr>
              <a:t>cross-checked against the official Dataset Description Guide (Missed_Payments = 12-month window; Month_1-6 = 6-month window)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343400"/>
            <a:ext cx="8366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EB38"/>
                </a:solidFill>
                <a:latin typeface="Arial"/>
              </a:rPr>
              <a:t>Caveat: segments are descriptive, not statistically validated - the pilot exists to validate before scaling (Task 2 go/no-go gate).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